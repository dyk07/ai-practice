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821" r:id="rId2"/>
    <p:sldId id="4864" r:id="rId3"/>
    <p:sldId id="4866" r:id="rId4"/>
    <p:sldId id="4867" r:id="rId5"/>
    <p:sldId id="4863" r:id="rId6"/>
    <p:sldId id="4868" r:id="rId7"/>
    <p:sldId id="4869" r:id="rId8"/>
    <p:sldId id="4884" r:id="rId9"/>
    <p:sldId id="4885" r:id="rId10"/>
    <p:sldId id="4876" r:id="rId11"/>
    <p:sldId id="4870" r:id="rId12"/>
    <p:sldId id="4886" r:id="rId13"/>
    <p:sldId id="4875" r:id="rId14"/>
    <p:sldId id="4877" r:id="rId15"/>
    <p:sldId id="4871" r:id="rId16"/>
    <p:sldId id="4880" r:id="rId17"/>
    <p:sldId id="4887" r:id="rId18"/>
    <p:sldId id="4878" r:id="rId19"/>
    <p:sldId id="4888" r:id="rId20"/>
    <p:sldId id="4882" r:id="rId21"/>
    <p:sldId id="4883" r:id="rId22"/>
    <p:sldId id="482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300F9F19-C0FF-40E5-B587-2DEB097FF162}">
          <p14:sldIdLst>
            <p14:sldId id="4821"/>
            <p14:sldId id="4864"/>
            <p14:sldId id="4866"/>
            <p14:sldId id="4867"/>
            <p14:sldId id="4863"/>
            <p14:sldId id="4868"/>
            <p14:sldId id="4869"/>
            <p14:sldId id="4884"/>
            <p14:sldId id="4885"/>
            <p14:sldId id="4876"/>
            <p14:sldId id="4870"/>
            <p14:sldId id="4886"/>
            <p14:sldId id="4875"/>
            <p14:sldId id="4877"/>
            <p14:sldId id="4871"/>
            <p14:sldId id="4880"/>
            <p14:sldId id="4887"/>
            <p14:sldId id="4878"/>
            <p14:sldId id="4888"/>
            <p14:sldId id="4882"/>
            <p14:sldId id="4883"/>
            <p14:sldId id="48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7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20AC3-08D8-484C-BAAB-186D09B868BD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C18A4-0463-4A33-B54B-3D7E9B95B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1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7B6A-7BCD-285B-6E88-BC3A66FA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20F017-955D-6F03-7494-BE7242CBBA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BB337-1C37-E5AE-0B8D-3DCC0A6B46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D9D87E-FBA2-CDA7-2605-E751EC63F9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9ADEC7D-D096-48A9-4FB7-6D6796786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单击此处添加文本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85BF7-B659-27D3-2EB5-DE5499AF6E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435C4-CD06-511C-1FA5-84ADB5B4E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17798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773D-047F-CBAB-C3A7-ADC0069D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CE0EDC-39D1-9A44-DFFE-5597A9D873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BC8C-CA95-EAE0-8270-D208F60A61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C0BA3B-818F-4D45-CFB1-7842EF9BB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FF1D7A7-0586-8801-4BFA-2CBFB9D17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单击此处添加文本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CB2B0-3E24-692E-2A68-57C117A2C8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94FCB-F0FC-1F61-874F-68D6E72BB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4744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98E6A-6856-DDE4-4102-CA4F18F53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01D681-1DE1-C87D-5461-CC503B27D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5D198-D9A5-7482-FA48-E5E86298A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3008B-7D82-1A3B-245E-67F7EE7E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89F3E-2096-9F98-DE2F-5E663EC3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0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14317-F245-449C-A051-6384B848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D627F5-EE9A-2E70-CD28-D925D6D53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24F80-FB6C-94E8-4356-090D3D7C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9E3F67-BFE9-CCAE-85C0-FFDD92B1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AC10BD-8560-EE5B-C405-4EB62F34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13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36C72-661B-F033-3F70-C8F98331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A24EF7-F65B-759D-FE2B-422987C69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3417D-EDD3-53BF-89A7-750A4592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37B4E-6429-073D-0741-6638F9B6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BFCB4F-7545-7A3A-929D-88D32762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7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8E634-B76F-7EBD-4C56-CFB8F28B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2796A5-6EE4-141C-60BC-FB49AA2BD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0CBE36-8937-32CD-76FF-B99EFD427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A9D5D5-5AAC-6268-50D1-6EE492B9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C7A9AB-5075-EC59-C4A3-BF9BACBB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3BEF59-D746-D41B-03C1-FD5C1A2B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7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5586C-8054-FE1E-7C5A-7EBAADA5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EAEE8B-6FBC-3616-9613-09836C4F3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B876B0-1533-B377-5078-A41E85B2A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30855C-F316-D55B-3508-B176FEB32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377D02-BD8B-7C3B-1D20-AAD0E5DCD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EBF8C2-D76B-4FAB-3640-3DB10292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2A4721-089F-4716-8121-9F5575ADF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EFB8FC-BB92-0A23-DE46-30C70419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082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4C388-CB22-A5A8-7A7E-E99676BF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1E976B-24DB-E1B8-25E3-B08355416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BE0DA4-5FED-4782-E9BE-EF30CE80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A1DC23-3B14-9A0F-ADF9-D471971D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2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CA58EF-C58D-C430-2779-C6D8EF99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00847D-03F3-7442-6718-3D87B7E4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139AFF-B9A5-C6C9-371B-F2B3681D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92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381DE-9317-2F67-EB35-5DEDCABA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4C75D-D9BD-94A5-A0B7-FD904C6F2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327588-D3DA-1D9F-916C-9CA538ECE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86D80E-212E-CA57-D659-50B8C518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188BEE-1B5D-942F-110E-CE317833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792AF-FA03-99A9-0847-CBBB2735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11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5C266-3854-7012-2201-251FFDDB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E1408D-96F4-0DE8-CE06-0D74D3FD8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912A80-6858-ECFA-83C6-6C23609F1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AAF091-0714-534E-4121-55378D3B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9E0EE1-4884-75E1-AFD3-17A213B5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35323A-C35C-FC4A-ABA5-E73E6797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3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E53C4-D59F-7991-3173-EE7BC49B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C6EA08-33E4-A55E-D0FD-0EF22E1A8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F74349-6889-8432-66DB-1C86C9ED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B7C1F-F3A5-1AA7-CBAD-B7AB6017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FAD4A-9E66-D776-5ADB-EF022AD0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5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E07AEB-FA76-FDB7-47CB-D4B728BAE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C7CFDA-0076-DE5B-E6B4-8372A6744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9DDA2B-2901-DADB-7971-43CA95B1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054F9E-8A64-05FC-8D6C-9DCBF605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D998F6-34DD-D2EC-C3B1-65495246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35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 rot="16200000">
            <a:off x="175451" y="353054"/>
            <a:ext cx="762468" cy="3602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思源黑体 CN Normal" panose="020B0500000000000000" pitchFamily="34" charset="-122"/>
                <a:ea typeface="思源黑体 CN Medium" panose="020B0500000000000000" pitchFamily="34" charset="-122"/>
                <a:sym typeface="思源黑体 CN Normal" panose="020B0500000000000000" pitchFamily="34" charset="-122"/>
              </a:rPr>
              <a:t>01</a:t>
            </a:r>
            <a:endParaRPr lang="zh-CN" altLang="en-US" sz="2000" b="1">
              <a:solidFill>
                <a:schemeClr val="bg1"/>
              </a:solidFill>
              <a:latin typeface="思源黑体 CN Normal" panose="020B0500000000000000" pitchFamily="34" charset="-122"/>
              <a:ea typeface="思源黑体 CN Medium" panose="020B0500000000000000" pitchFamily="34" charset="-122"/>
              <a:sym typeface="思源黑体 CN Normal" panose="020B0500000000000000" pitchFamily="34" charset="-122"/>
            </a:endParaRPr>
          </a:p>
        </p:txBody>
      </p:sp>
      <p:sp>
        <p:nvSpPr>
          <p:cNvPr id="5" name="任意多边形: 形状 45"/>
          <p:cNvSpPr/>
          <p:nvPr userDrawn="1"/>
        </p:nvSpPr>
        <p:spPr>
          <a:xfrm rot="16200000">
            <a:off x="173606" y="82171"/>
            <a:ext cx="488815" cy="836025"/>
          </a:xfrm>
          <a:custGeom>
            <a:avLst/>
            <a:gdLst>
              <a:gd name="connsiteX0" fmla="*/ 0 w 354952"/>
              <a:gd name="connsiteY0" fmla="*/ 0 h 962027"/>
              <a:gd name="connsiteX1" fmla="*/ 354952 w 354952"/>
              <a:gd name="connsiteY1" fmla="*/ 0 h 962027"/>
              <a:gd name="connsiteX2" fmla="*/ 354952 w 354952"/>
              <a:gd name="connsiteY2" fmla="*/ 198188 h 962027"/>
              <a:gd name="connsiteX3" fmla="*/ 354952 w 354952"/>
              <a:gd name="connsiteY3" fmla="*/ 582434 h 962027"/>
              <a:gd name="connsiteX4" fmla="*/ 354952 w 354952"/>
              <a:gd name="connsiteY4" fmla="*/ 815798 h 962027"/>
              <a:gd name="connsiteX5" fmla="*/ 349680 w 354952"/>
              <a:gd name="connsiteY5" fmla="*/ 826285 h 962027"/>
              <a:gd name="connsiteX6" fmla="*/ 190204 w 354952"/>
              <a:gd name="connsiteY6" fmla="*/ 957686 h 962027"/>
              <a:gd name="connsiteX7" fmla="*/ 164748 w 354952"/>
              <a:gd name="connsiteY7" fmla="*/ 957686 h 962027"/>
              <a:gd name="connsiteX8" fmla="*/ 5272 w 354952"/>
              <a:gd name="connsiteY8" fmla="*/ 826285 h 962027"/>
              <a:gd name="connsiteX9" fmla="*/ 0 w 354952"/>
              <a:gd name="connsiteY9" fmla="*/ 815798 h 962027"/>
              <a:gd name="connsiteX10" fmla="*/ 0 w 354952"/>
              <a:gd name="connsiteY10" fmla="*/ 582434 h 962027"/>
              <a:gd name="connsiteX11" fmla="*/ 0 w 354952"/>
              <a:gd name="connsiteY11" fmla="*/ 198188 h 962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952" h="962027">
                <a:moveTo>
                  <a:pt x="0" y="0"/>
                </a:moveTo>
                <a:lnTo>
                  <a:pt x="354952" y="0"/>
                </a:lnTo>
                <a:lnTo>
                  <a:pt x="354952" y="198188"/>
                </a:lnTo>
                <a:lnTo>
                  <a:pt x="354952" y="582434"/>
                </a:lnTo>
                <a:lnTo>
                  <a:pt x="354952" y="815798"/>
                </a:lnTo>
                <a:cubicBezTo>
                  <a:pt x="354952" y="819729"/>
                  <a:pt x="353054" y="823505"/>
                  <a:pt x="349680" y="826285"/>
                </a:cubicBezTo>
                <a:lnTo>
                  <a:pt x="190204" y="957686"/>
                </a:lnTo>
                <a:cubicBezTo>
                  <a:pt x="183178" y="963475"/>
                  <a:pt x="171774" y="963475"/>
                  <a:pt x="164748" y="957686"/>
                </a:cubicBezTo>
                <a:lnTo>
                  <a:pt x="5272" y="826285"/>
                </a:lnTo>
                <a:cubicBezTo>
                  <a:pt x="1898" y="823505"/>
                  <a:pt x="0" y="819729"/>
                  <a:pt x="0" y="815798"/>
                </a:cubicBezTo>
                <a:lnTo>
                  <a:pt x="0" y="582434"/>
                </a:lnTo>
                <a:lnTo>
                  <a:pt x="0" y="198188"/>
                </a:lnTo>
                <a:close/>
              </a:path>
            </a:pathLst>
          </a:custGeom>
          <a:gradFill>
            <a:gsLst>
              <a:gs pos="0">
                <a:srgbClr val="4A58B1"/>
              </a:gs>
              <a:gs pos="100000">
                <a:srgbClr val="2E3C9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思源黑体 CN Normal" panose="020B0500000000000000" pitchFamily="34" charset="-122"/>
              <a:ea typeface="思源黑体 CN Medium" panose="020B0500000000000000" pitchFamily="34" charset="-122"/>
              <a:sym typeface="思源黑体 CN Normal" panose="020B0500000000000000" pitchFamily="34" charset="-122"/>
            </a:endParaRPr>
          </a:p>
        </p:txBody>
      </p:sp>
      <p:sp>
        <p:nvSpPr>
          <p:cNvPr id="6" name="箭头: V 形 44"/>
          <p:cNvSpPr/>
          <p:nvPr userDrawn="1"/>
        </p:nvSpPr>
        <p:spPr>
          <a:xfrm rot="16200000" flipV="1">
            <a:off x="392422" y="419306"/>
            <a:ext cx="319855" cy="161754"/>
          </a:xfrm>
          <a:custGeom>
            <a:avLst/>
            <a:gdLst>
              <a:gd name="connsiteX0" fmla="*/ 281316 w 281316"/>
              <a:gd name="connsiteY0" fmla="*/ 207408 h 225444"/>
              <a:gd name="connsiteX1" fmla="*/ 281316 w 281316"/>
              <a:gd name="connsiteY1" fmla="*/ 120379 h 225444"/>
              <a:gd name="connsiteX2" fmla="*/ 274850 w 281316"/>
              <a:gd name="connsiteY2" fmla="*/ 106560 h 225444"/>
              <a:gd name="connsiteX3" fmla="*/ 152192 w 281316"/>
              <a:gd name="connsiteY3" fmla="*/ 4181 h 225444"/>
              <a:gd name="connsiteX4" fmla="*/ 129124 w 281316"/>
              <a:gd name="connsiteY4" fmla="*/ 4181 h 225444"/>
              <a:gd name="connsiteX5" fmla="*/ 6466 w 281316"/>
              <a:gd name="connsiteY5" fmla="*/ 106560 h 225444"/>
              <a:gd name="connsiteX6" fmla="*/ 0 w 281316"/>
              <a:gd name="connsiteY6" fmla="*/ 120379 h 225444"/>
              <a:gd name="connsiteX7" fmla="*/ 0 w 281316"/>
              <a:gd name="connsiteY7" fmla="*/ 207408 h 225444"/>
              <a:gd name="connsiteX8" fmla="*/ 29534 w 281316"/>
              <a:gd name="connsiteY8" fmla="*/ 221227 h 225444"/>
              <a:gd name="connsiteX9" fmla="*/ 129124 w 281316"/>
              <a:gd name="connsiteY9" fmla="*/ 138102 h 225444"/>
              <a:gd name="connsiteX10" fmla="*/ 152192 w 281316"/>
              <a:gd name="connsiteY10" fmla="*/ 138102 h 225444"/>
              <a:gd name="connsiteX11" fmla="*/ 251782 w 281316"/>
              <a:gd name="connsiteY11" fmla="*/ 221227 h 225444"/>
              <a:gd name="connsiteX12" fmla="*/ 281316 w 281316"/>
              <a:gd name="connsiteY12" fmla="*/ 207408 h 2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1316" h="225444">
                <a:moveTo>
                  <a:pt x="281316" y="207408"/>
                </a:moveTo>
                <a:lnTo>
                  <a:pt x="281316" y="120379"/>
                </a:lnTo>
                <a:cubicBezTo>
                  <a:pt x="281316" y="115039"/>
                  <a:pt x="278950" y="109982"/>
                  <a:pt x="274850" y="106560"/>
                </a:cubicBezTo>
                <a:lnTo>
                  <a:pt x="152192" y="4181"/>
                </a:lnTo>
                <a:cubicBezTo>
                  <a:pt x="145514" y="-1393"/>
                  <a:pt x="135802" y="-1393"/>
                  <a:pt x="129124" y="4181"/>
                </a:cubicBezTo>
                <a:lnTo>
                  <a:pt x="6466" y="106560"/>
                </a:lnTo>
                <a:cubicBezTo>
                  <a:pt x="2366" y="109982"/>
                  <a:pt x="0" y="115039"/>
                  <a:pt x="0" y="120379"/>
                </a:cubicBezTo>
                <a:lnTo>
                  <a:pt x="0" y="207408"/>
                </a:lnTo>
                <a:cubicBezTo>
                  <a:pt x="0" y="222680"/>
                  <a:pt x="17809" y="231013"/>
                  <a:pt x="29534" y="221227"/>
                </a:cubicBezTo>
                <a:lnTo>
                  <a:pt x="129124" y="138102"/>
                </a:lnTo>
                <a:cubicBezTo>
                  <a:pt x="135802" y="132528"/>
                  <a:pt x="145514" y="132528"/>
                  <a:pt x="152192" y="138102"/>
                </a:cubicBezTo>
                <a:lnTo>
                  <a:pt x="251782" y="221227"/>
                </a:lnTo>
                <a:cubicBezTo>
                  <a:pt x="263507" y="231013"/>
                  <a:pt x="281316" y="222680"/>
                  <a:pt x="281316" y="207408"/>
                </a:cubicBezTo>
              </a:path>
            </a:pathLst>
          </a:custGeom>
          <a:gradFill flip="none" rotWithShape="1">
            <a:gsLst>
              <a:gs pos="0">
                <a:srgbClr val="0D9CE2">
                  <a:alpha val="0"/>
                </a:srgbClr>
              </a:gs>
              <a:gs pos="99000">
                <a:srgbClr val="0D9CE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500000000000000" pitchFamily="34" charset="-122"/>
              <a:ea typeface="思源黑体 CN Medium" panose="020B0500000000000000" pitchFamily="34" charset="-122"/>
              <a:sym typeface="思源黑体 CN Normal" panose="020B0500000000000000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6679096"/>
            <a:ext cx="12192000" cy="178904"/>
          </a:xfrm>
          <a:prstGeom prst="rect">
            <a:avLst/>
          </a:prstGeom>
          <a:gradFill>
            <a:gsLst>
              <a:gs pos="100000">
                <a:srgbClr val="2E3C9D"/>
              </a:gs>
              <a:gs pos="0">
                <a:srgbClr val="4A58B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1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0F6734-02FA-927A-2327-B77AB04D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67C6BD-151A-2539-761A-33697C002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20365-6F87-96C8-E51D-EC3F153BA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B21F2-D0E9-4DCB-90C5-42AAEE637BF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F4E42-0520-86E7-4349-C084D969D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5230A-8172-9541-8679-0A1D25F75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4FB94-2E02-4823-A955-D20A9A6A2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87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7520E-2C58-5F13-1606-B887284B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328866B-5802-12AF-880E-CDBA3438A4FE}"/>
              </a:ext>
            </a:extLst>
          </p:cNvPr>
          <p:cNvSpPr/>
          <p:nvPr/>
        </p:nvSpPr>
        <p:spPr>
          <a:xfrm>
            <a:off x="971901" y="1210614"/>
            <a:ext cx="10248197" cy="26981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zh-CN" altLang="en-US" sz="320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语言模型坍缩现象分析</a:t>
            </a:r>
            <a:endParaRPr lang="en-US" altLang="zh-CN" sz="3200" b="1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  <a:p>
            <a:pPr indent="0" algn="ctr">
              <a:lnSpc>
                <a:spcPct val="117000"/>
              </a:lnSpc>
              <a:defRPr/>
            </a:pPr>
            <a:r>
              <a:rPr lang="zh-CN" altLang="en-US" sz="320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从 </a:t>
            </a:r>
            <a:r>
              <a:rPr lang="en-US" altLang="zh-CN" sz="320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Qwen0.6B </a:t>
            </a:r>
            <a:r>
              <a:rPr lang="zh-CN" altLang="en-US" sz="320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到 </a:t>
            </a:r>
            <a:r>
              <a:rPr lang="en-US" altLang="zh-CN" sz="320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14B </a:t>
            </a:r>
            <a:r>
              <a:rPr lang="zh-CN" altLang="en-US" sz="320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的统计差异</a:t>
            </a:r>
            <a:endParaRPr lang="en-US" altLang="zh-CN" sz="3200" b="1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  <a:p>
            <a:pPr indent="0" algn="ctr">
              <a:lnSpc>
                <a:spcPct val="117000"/>
              </a:lnSpc>
              <a:defRPr/>
            </a:pPr>
            <a:endParaRPr lang="en-US" altLang="zh-CN" sz="280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  <a:p>
            <a:pPr indent="0" algn="ctr">
              <a:lnSpc>
                <a:spcPct val="117000"/>
              </a:lnSpc>
              <a:defRPr/>
            </a:pPr>
            <a:r>
              <a:rPr lang="en-US" altLang="zh-CN" sz="2800" b="1" i="0" u="none" strike="noStrike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Representation Collapse in Language Models</a:t>
            </a:r>
          </a:p>
          <a:p>
            <a:pPr indent="0" algn="ctr">
              <a:lnSpc>
                <a:spcPct val="117000"/>
              </a:lnSpc>
              <a:defRPr/>
            </a:pPr>
            <a:r>
              <a:rPr lang="en-US" altLang="zh-CN" sz="2800" b="1" i="0" u="none" strike="noStrike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Statistical Differences from Qwen‑0.6B to Qwen‑14B</a:t>
            </a:r>
            <a:endParaRPr lang="zh-CN" altLang="en-US" sz="280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14C102F-58FA-1600-C7FD-1816D34E40E8}"/>
              </a:ext>
            </a:extLst>
          </p:cNvPr>
          <p:cNvSpPr/>
          <p:nvPr/>
        </p:nvSpPr>
        <p:spPr>
          <a:xfrm>
            <a:off x="1141163" y="4059359"/>
            <a:ext cx="9909674" cy="12876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罗天择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2026.6.11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41551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7416-A9EE-9983-D2A7-2911B211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ABFDF4EF-1B5D-7C2A-285E-FA0456271018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研究背景与动机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7083D7-E97C-E190-CA64-B500B056635C}"/>
              </a:ext>
            </a:extLst>
          </p:cNvPr>
          <p:cNvSpPr txBox="1"/>
          <p:nvPr/>
        </p:nvSpPr>
        <p:spPr>
          <a:xfrm>
            <a:off x="299258" y="1030778"/>
            <a:ext cx="11754197" cy="13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问题定义：表示坍缩（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Representation Collapse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模型深层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token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向量趋于高度相似，特征空间退化，降低表达能力。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790E06-D90F-8CED-29A2-7AEB0DC6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11" y="2649981"/>
            <a:ext cx="11693344" cy="317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6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CEB85-D338-C92E-4045-4B98D34E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939FF024-C610-813E-252E-BA2789562CE4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研究背景与动机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024388-EF95-3F80-4D35-71DE8434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4" y="811643"/>
            <a:ext cx="11921414" cy="55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2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85DBC-E400-730A-2854-0FD87E55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D5382325-A291-FA7A-6967-51984612E57F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研究背景与动机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2C75A5-AEA7-0AF8-B35B-3D230F5F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1" y="894770"/>
            <a:ext cx="11533190" cy="33225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58280C-EC24-2180-6316-336CB9959D42}"/>
              </a:ext>
            </a:extLst>
          </p:cNvPr>
          <p:cNvSpPr txBox="1"/>
          <p:nvPr/>
        </p:nvSpPr>
        <p:spPr>
          <a:xfrm>
            <a:off x="218901" y="4313323"/>
            <a:ext cx="11754197" cy="13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关键猜想：小模型参数少、容量有限，更容易出现向量聚集现象（各向异性、低有效秩、低内在维度）。</a:t>
            </a:r>
          </a:p>
        </p:txBody>
      </p:sp>
    </p:spTree>
    <p:extLst>
      <p:ext uri="{BB962C8B-B14F-4D97-AF65-F5344CB8AC3E}">
        <p14:creationId xmlns:p14="http://schemas.microsoft.com/office/powerpoint/2010/main" val="42519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10A4-5152-E601-77D3-218C6045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113235C9-5337-4686-592D-F052BB945AE4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实验设计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834F34-036D-5A85-A92A-DFE4AB8598EC}"/>
              </a:ext>
            </a:extLst>
          </p:cNvPr>
          <p:cNvSpPr txBox="1"/>
          <p:nvPr/>
        </p:nvSpPr>
        <p:spPr>
          <a:xfrm>
            <a:off x="290945" y="955964"/>
            <a:ext cx="11571317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通过多个统计量系统对比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Qwen3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系列（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0.6B, 1.7B, 4B, 8B, 14B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）的差异，量化小模型表达能力减弱的证据。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实验设置：数据集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WikiText-2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，输入长度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128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，每个模型分析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128 batches × 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batch_size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=8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代码和结果均上传至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https://github.com/dyk07/AI-practice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908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B8CA-F4FA-28E8-F534-569445BF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C28CB25B-04C2-F37B-FDD3-D7A5FB1DF859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实验设计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8F4CF9-FB2C-7C89-9232-44E1BFC74B19}"/>
              </a:ext>
            </a:extLst>
          </p:cNvPr>
          <p:cNvSpPr txBox="1"/>
          <p:nvPr/>
        </p:nvSpPr>
        <p:spPr>
          <a:xfrm>
            <a:off x="290945" y="955964"/>
            <a:ext cx="11571317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统计量：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Embedding:</a:t>
            </a:r>
            <a:b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mean_pairwise_cos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eigenvalue_spectra_of_covariance_matrix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Q, K, V, O: (vs depth)</a:t>
            </a:r>
            <a:b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effective_rank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 (99%, entropy)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Hidden states: (vs depth)</a:t>
            </a:r>
            <a:b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layer_eigenstates_spectra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twonn_intrinsic_dim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571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DBA9-24CE-A24B-1D55-68702A25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F50905A8-793E-CB5D-0C72-55EFBE55270E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——Embedding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E39F108-0630-F420-FC14-5E980F6844A8}"/>
                  </a:ext>
                </a:extLst>
              </p:cNvPr>
              <p:cNvSpPr txBox="1"/>
              <p:nvPr/>
            </p:nvSpPr>
            <p:spPr>
              <a:xfrm>
                <a:off x="290945" y="955964"/>
                <a:ext cx="11571317" cy="497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- 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eigenstates_spectra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：计算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embedding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的各维度之间的协方差矩阵，得到特征值谱</a:t>
                </a:r>
                <a:b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</a:br>
                <a:r>
                  <a:rPr lang="zh-CN" altLang="zh-CN" sz="2800" dirty="0"/>
                  <a:t>公式：</a:t>
                </a:r>
              </a:p>
              <a:p>
                <a:pPr lvl="1"/>
                <a:r>
                  <a:rPr lang="zh-CN" altLang="zh-CN" sz="2800" dirty="0"/>
                  <a:t>对词嵌入矩阵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zh-CN" altLang="en-US" sz="28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zh-CN" sz="2800" dirty="0"/>
                  <a:t> 进行层归一化（无参）：</a:t>
                </a:r>
                <a:br>
                  <a:rPr lang="zh-CN" altLang="zh-CN" sz="28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sz="2800" dirty="0"/>
              </a:p>
              <a:p>
                <a:pPr lvl="1"/>
                <a:r>
                  <a:rPr lang="zh-CN" altLang="zh-CN" sz="2800" dirty="0"/>
                  <a:t>计算样本协方差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  <m:sup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̃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limUpp>
                          <m:limUp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lim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limUpp>
                              <m:limUpp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lim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ˉ</m:t>
                                </m:r>
                              </m:lim>
                            </m:limUpp>
                          </m:e>
                          <m:sup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zh-CN" altLang="zh-CN" sz="2800" dirty="0"/>
              </a:p>
              <a:p>
                <a:pPr lvl="1"/>
                <a:r>
                  <a:rPr lang="zh-CN" altLang="zh-CN" sz="2800" dirty="0"/>
                  <a:t>求特征值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2800" dirty="0"/>
                  <a:t>，计算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nary>
                      </m:fName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zh-CN" altLang="zh-CN" sz="2800" dirty="0"/>
              </a:p>
              <a:p>
                <a:r>
                  <a:rPr lang="zh-CN" altLang="zh-CN" sz="2800" dirty="0"/>
                  <a:t>解释：特征值全同 → log 均值大（分布均匀）；前几个主导 → log 均值小（坍缩）。</a:t>
                </a: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E39F108-0630-F420-FC14-5E980F684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5" y="955964"/>
                <a:ext cx="11571317" cy="4973028"/>
              </a:xfrm>
              <a:prstGeom prst="rect">
                <a:avLst/>
              </a:prstGeom>
              <a:blipFill>
                <a:blip r:embed="rId2"/>
                <a:stretch>
                  <a:fillRect l="-1106" t="-1348" b="-2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77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3E74-E357-CD37-924C-DDB0CCD2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FBF35A0D-B7FF-D82D-1662-8A8DE0DBB96A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——Embedding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D09876-3F30-6FF9-A374-C2278FFDD29D}"/>
              </a:ext>
            </a:extLst>
          </p:cNvPr>
          <p:cNvSpPr txBox="1"/>
          <p:nvPr/>
        </p:nvSpPr>
        <p:spPr>
          <a:xfrm>
            <a:off x="290945" y="955964"/>
            <a:ext cx="115713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eigenstates_spectra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：计算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embedding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的各维度之间的协方差矩阵，得到特征值谱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AF34C5-2A79-EB77-71C8-A89AF8B7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179" y="4018721"/>
            <a:ext cx="3317012" cy="22113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47EE5CE-B42D-03DF-1C72-E4A549A57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47" y="1600196"/>
            <a:ext cx="3627788" cy="24185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2E4786-9975-146D-297B-36B9F36D5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119" y="3838429"/>
            <a:ext cx="3489283" cy="23261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4AE5D04-CC43-2CEE-C612-6A7F74A3E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778" y="1548635"/>
            <a:ext cx="3434692" cy="22897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1C5CEF5-7347-40A4-A122-3A01C1941A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5" y="2855627"/>
            <a:ext cx="3489283" cy="232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4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2C36-6F38-BCE0-4971-C8B6D22B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097616EC-C9F2-1699-3A33-6208AE6AC657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——Embedding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E0E9E7-084B-31C5-E16C-19840E352FDE}"/>
                  </a:ext>
                </a:extLst>
              </p:cNvPr>
              <p:cNvSpPr txBox="1"/>
              <p:nvPr/>
            </p:nvSpPr>
            <p:spPr>
              <a:xfrm>
                <a:off x="290945" y="955964"/>
                <a:ext cx="11571317" cy="5112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-</a:t>
                </a:r>
                <a:r>
                  <a:rPr lang="zh-CN" altLang="zh-CN" sz="2800" b="1" dirty="0"/>
                  <a:t>嵌入向量余弦相似度</a:t>
                </a:r>
                <a:endParaRPr lang="zh-CN" altLang="zh-CN" sz="2800" dirty="0"/>
              </a:p>
              <a:p>
                <a:r>
                  <a:rPr lang="zh-CN" altLang="zh-CN" sz="2800" dirty="0"/>
                  <a:t>最近邻平均余弦：对每个词向量（归一化后）找其最近邻居（排除自身）的余弦均值。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b="0"/>
                        <m:t>NN</m:t>
                      </m:r>
                      <m:r>
                        <m:rPr>
                          <m:nor/>
                        </m:rPr>
                        <a:rPr lang="en-US" altLang="zh-CN" sz="2800" b="0"/>
                        <m:t>−</m:t>
                      </m:r>
                      <m:r>
                        <m:rPr>
                          <m:nor/>
                        </m:rPr>
                        <a:rPr lang="en-US" altLang="zh-CN" sz="2800" b="0"/>
                        <m:t>cos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limLow>
                            <m:limLow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e>
                      </m:nary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∥∥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 lang="zh-CN" altLang="en-US" sz="2800" b="0" dirty="0"/>
              </a:p>
              <a:p>
                <a:r>
                  <a:rPr lang="zh-CN" altLang="zh-CN" sz="2800" dirty="0"/>
                  <a:t>全局平均余弦：利用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zh-CN" altLang="en-US" sz="28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dirty="0"/>
                  <a:t> 的等价公式：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b="0"/>
                        <m:t>Avg</m:t>
                      </m:r>
                      <m:r>
                        <m:rPr>
                          <m:nor/>
                        </m:rPr>
                        <a:rPr lang="en-US" altLang="zh-CN" sz="2800" b="0"/>
                        <m:t>−</m:t>
                      </m:r>
                      <m:r>
                        <m:rPr>
                          <m:nor/>
                        </m:rPr>
                        <a:rPr lang="en-US" altLang="zh-CN" sz="2800" b="0"/>
                        <m:t>cos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∥</m:t>
                          </m:r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b="0" dirty="0"/>
              </a:p>
              <a:p>
                <a:r>
                  <a:rPr lang="zh-CN" altLang="zh-CN" sz="2800" dirty="0"/>
                  <a:t>解释：值越大 → 词嵌入挤在一起（坍缩）。</a:t>
                </a:r>
              </a:p>
              <a:p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E0E9E7-084B-31C5-E16C-19840E352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5" y="955964"/>
                <a:ext cx="11571317" cy="5112105"/>
              </a:xfrm>
              <a:prstGeom prst="rect">
                <a:avLst/>
              </a:prstGeom>
              <a:blipFill>
                <a:blip r:embed="rId2"/>
                <a:stretch>
                  <a:fillRect l="-1106" t="-1432" r="-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31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1FAF-AEC2-2676-9727-07548219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A20F45FC-8EF1-0810-60E7-3D464EA094C1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——Embedding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9EFD88-3501-3E0F-079C-34F63ACE27AC}"/>
              </a:ext>
            </a:extLst>
          </p:cNvPr>
          <p:cNvSpPr txBox="1"/>
          <p:nvPr/>
        </p:nvSpPr>
        <p:spPr>
          <a:xfrm>
            <a:off x="166255" y="955964"/>
            <a:ext cx="11953701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nn_mean_cos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pairwise_mean_cos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log_eig_mean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0.6B	 0.6062153577804565	0.11234712419650493	-0.2620516639048361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1.7B	0.5613263249397278	0.05626977518204755	-0.26539324023802946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4B	0.5738679766654968	0.08886244851018152	-0.32584113960344513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8B	0.2294074147939682	0.017204562537939637	-0.6883295190859513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14B	0.23942406475543976	0.020336457374160878	-1.2597784341291522</a:t>
            </a:r>
          </a:p>
        </p:txBody>
      </p:sp>
    </p:spTree>
    <p:extLst>
      <p:ext uri="{BB962C8B-B14F-4D97-AF65-F5344CB8AC3E}">
        <p14:creationId xmlns:p14="http://schemas.microsoft.com/office/powerpoint/2010/main" val="164257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E010D-1A08-5942-F2C6-51100B25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ADAEFF1E-2959-3677-A372-DA3BE151968D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——Q, K, V, O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A02A4C-FC39-E910-E098-9F22BA2D8F60}"/>
                  </a:ext>
                </a:extLst>
              </p:cNvPr>
              <p:cNvSpPr txBox="1"/>
              <p:nvPr/>
            </p:nvSpPr>
            <p:spPr>
              <a:xfrm>
                <a:off x="290945" y="955964"/>
                <a:ext cx="11571317" cy="4737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effective_rank_99% across layers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每个矩阵总和占前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99%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的奇异值的个数</a:t>
                </a:r>
                <a:b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</a:b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+mn-ea"/>
                </a:endParaRPr>
              </a:p>
              <a:p>
                <a:r>
                  <a:rPr lang="zh-CN" altLang="zh-CN" sz="2800" dirty="0"/>
                  <a:t>对权重矩阵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zh-CN" altLang="en-US" sz="28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i="1"/>
                              <m:t>out</m:t>
                            </m:r>
                          </m:sub>
                        </m:s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i="1"/>
                              <m:t>in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zh-CN" sz="2800" dirty="0"/>
                  <a:t>，计算奇异值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zh-CN" sz="2800" dirty="0"/>
              </a:p>
              <a:p>
                <a:r>
                  <a:rPr lang="zh-CN" altLang="zh-CN" sz="2800" dirty="0"/>
                  <a:t>归一化能量：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grow m:val="on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grow m:val="on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endParaRPr lang="zh-CN" altLang="zh-CN" sz="2800" dirty="0"/>
              </a:p>
              <a:p>
                <a:r>
                  <a:rPr lang="zh-CN" altLang="zh-CN" sz="2800" dirty="0"/>
                  <a:t>找到最小的 k 使得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8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0.99</m:t>
                    </m:r>
                  </m:oMath>
                </a14:m>
                <a:endParaRPr lang="zh-CN" altLang="zh-CN" sz="2800" dirty="0"/>
              </a:p>
              <a:p>
                <a:r>
                  <a:rPr lang="zh-CN" altLang="zh-CN" sz="2800" dirty="0"/>
                  <a:t>有效秩 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i="1"/>
                              <m:t>out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i="1"/>
                              <m:t>in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dirty="0"/>
                  <a:t>（归一化到 [0,1]）</a:t>
                </a:r>
              </a:p>
              <a:p>
                <a:r>
                  <a:rPr lang="zh-CN" altLang="zh-CN" sz="2800" dirty="0"/>
                  <a:t>解释：值越小 → 矩阵近似低秩（表达能力受限）。</a:t>
                </a:r>
              </a:p>
              <a:p>
                <a:pPr marL="457200" indent="-457200">
                  <a:lnSpc>
                    <a:spcPct val="150000"/>
                  </a:lnSpc>
                  <a:buFontTx/>
                  <a:buChar char="-"/>
                </a:pP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A02A4C-FC39-E910-E098-9F22BA2D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5" y="955964"/>
                <a:ext cx="11571317" cy="4737579"/>
              </a:xfrm>
              <a:prstGeom prst="rect">
                <a:avLst/>
              </a:prstGeom>
              <a:blipFill>
                <a:blip r:embed="rId2"/>
                <a:stretch>
                  <a:fillRect l="-1106" t="-1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66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D79AA-D176-6B6A-2024-D1FB4BBF1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830F2BA9-F6C1-4A72-EB8F-B7ECC2316C5A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——Q, K, V, O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1B4F04-FDB6-D5C3-6A13-32A837F80EB7}"/>
              </a:ext>
            </a:extLst>
          </p:cNvPr>
          <p:cNvSpPr txBox="1"/>
          <p:nvPr/>
        </p:nvSpPr>
        <p:spPr>
          <a:xfrm>
            <a:off x="290945" y="955964"/>
            <a:ext cx="11571317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effective_rank_99% across layers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每个矩阵总和占前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99%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的奇异值的个数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C98DA2-A9D6-984F-3250-6F58BB151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544" y="3398872"/>
            <a:ext cx="3858701" cy="24013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D43332-67DB-3BFF-92C1-8B12B4B41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079" y="1550822"/>
            <a:ext cx="4064741" cy="25295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1EE118-50C7-B28F-6171-1E4A336EC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57" y="2229641"/>
            <a:ext cx="3757667" cy="23384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3DCA81-858D-4F8A-DBA0-C8D43DB006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57" y="1661503"/>
            <a:ext cx="3455164" cy="21471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C334DB3-094F-3EB7-CE6A-297D5768B3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57" y="3910791"/>
            <a:ext cx="3989679" cy="248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6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95D4C-2516-A8C9-1772-754D6972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A2D70503-6EFE-1F3A-7223-88BA06D1F63E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——Q, K, V, O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F19D8A4-9A57-3538-791E-7D2EAE979079}"/>
                  </a:ext>
                </a:extLst>
              </p:cNvPr>
              <p:cNvSpPr txBox="1"/>
              <p:nvPr/>
            </p:nvSpPr>
            <p:spPr>
              <a:xfrm>
                <a:off x="290945" y="955964"/>
                <a:ext cx="11571317" cy="2730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- 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effective_rank_entropy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 across layers</a:t>
                </a:r>
                <a:b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</a:br>
                <a:r>
                  <a:rPr lang="zh-CN" altLang="zh-CN" sz="2800" dirty="0"/>
                  <a:t>奇异值概率分布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2800" dirty="0"/>
                  <a:t>（只取正奇异值）</a:t>
                </a:r>
              </a:p>
              <a:p>
                <a:r>
                  <a:rPr lang="zh-CN" altLang="zh-CN" sz="2800" dirty="0"/>
                  <a:t>香农熵：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zh-CN" altLang="zh-CN" sz="2800" dirty="0"/>
              </a:p>
              <a:p>
                <a:r>
                  <a:rPr lang="zh-CN" altLang="zh-CN" sz="2800" dirty="0"/>
                  <a:t>有效秩 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i="1"/>
                              <m:t>out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 i="1"/>
                              <m:t>in</m:t>
                            </m:r>
                          </m:sub>
                        </m:sSub>
                      </m:e>
                    </m:d>
                  </m:oMath>
                </a14:m>
                <a:endParaRPr lang="zh-CN" altLang="zh-CN" sz="2800" dirty="0"/>
              </a:p>
              <a:p>
                <a:r>
                  <a:rPr lang="zh-CN" altLang="zh-CN" sz="2800" dirty="0"/>
                  <a:t>解释：均匀奇异值分布 → 高熵秩（≈1）；少数主成分主导 → 低熵秩。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F19D8A4-9A57-3538-791E-7D2EAE979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5" y="955964"/>
                <a:ext cx="11571317" cy="2730106"/>
              </a:xfrm>
              <a:prstGeom prst="rect">
                <a:avLst/>
              </a:prstGeom>
              <a:blipFill>
                <a:blip r:embed="rId2"/>
                <a:stretch>
                  <a:fillRect l="-1106" t="-2455" b="-5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54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A453-9749-C41D-8F85-64FE2256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DA5939AD-023E-7AC8-4501-F2DEDE1D60BD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——Q, K, V, O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5F2F3F-FD57-234F-9F76-6127854A2073}"/>
              </a:ext>
            </a:extLst>
          </p:cNvPr>
          <p:cNvSpPr txBox="1"/>
          <p:nvPr/>
        </p:nvSpPr>
        <p:spPr>
          <a:xfrm>
            <a:off x="290945" y="955964"/>
            <a:ext cx="11571317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effective_rank_entropy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 across layers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ABF524-F649-A50F-8E9F-363563CA7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125" y="2574014"/>
            <a:ext cx="4569709" cy="28438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BCF3C9-909C-83B3-F0FD-556A22982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613" y="1617171"/>
            <a:ext cx="4097252" cy="25497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5DECEC-2F3B-D1BC-ADA0-F9DFB4B74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7" y="2574014"/>
            <a:ext cx="3610418" cy="22468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01C9AE4-D516-A7F7-3E52-CD07158ACF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997" y="1794407"/>
            <a:ext cx="3431989" cy="21327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1C66A48-7349-0DF1-D3A4-F443ADFE9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122" y="4027485"/>
            <a:ext cx="3832276" cy="238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BE06-66B7-D3B9-3B0A-627351CD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902F5C1E-90CD-EE26-B75E-9DA3E58403AF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——Hidden States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233F22-834D-5C1C-00C1-582CE3B05634}"/>
              </a:ext>
            </a:extLst>
          </p:cNvPr>
          <p:cNvSpPr txBox="1"/>
          <p:nvPr/>
        </p:nvSpPr>
        <p:spPr>
          <a:xfrm>
            <a:off x="290945" y="955964"/>
            <a:ext cx="11571317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计算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hidden states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协方差矩阵的特征值谱系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77403D-E790-6F8C-5F05-8F54E6FCF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1600196"/>
            <a:ext cx="6400813" cy="36576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131EBF-8BBB-30B1-53B0-7A17DEFF2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1600196"/>
            <a:ext cx="6400813" cy="36576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F18926-7308-B6E9-19DF-3292EF0A2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1600196"/>
            <a:ext cx="6400813" cy="36576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DA0F0A7-42F6-EE07-F944-3AEC1E0F8D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1600196"/>
            <a:ext cx="6400813" cy="36576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F3C3B80-A8D4-44EB-198E-E2730221F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5" y="1678365"/>
            <a:ext cx="5202279" cy="297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7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C1EC3-552C-D19B-6FC3-6E69DD35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BB8CC0AB-81E0-812D-E128-3EEA61AC4E8F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——Hidden States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A48FAB4-4D06-BBF5-EAFC-CD30D8004502}"/>
                  </a:ext>
                </a:extLst>
              </p:cNvPr>
              <p:cNvSpPr txBox="1"/>
              <p:nvPr/>
            </p:nvSpPr>
            <p:spPr>
              <a:xfrm>
                <a:off x="290945" y="955964"/>
                <a:ext cx="11571317" cy="330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- </a:t>
                </a:r>
                <a:r>
                  <a:rPr lang="zh-CN" altLang="zh-CN" sz="2800" b="1" dirty="0"/>
                  <a:t>平均余弦相似度（token 间）</a:t>
                </a:r>
                <a:endParaRPr lang="zh-CN" altLang="zh-CN" sz="2800" dirty="0"/>
              </a:p>
              <a:p>
                <a:r>
                  <a:rPr lang="zh-CN" altLang="zh-CN" sz="2800" dirty="0"/>
                  <a:t>对某层所有 token 表示（归一化后），计算全局平均余弦：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b="0"/>
                        <m:t>Avg</m:t>
                      </m:r>
                      <m:r>
                        <m:rPr>
                          <m:nor/>
                        </m:rPr>
                        <a:rPr lang="en-US" altLang="zh-CN" sz="2800" b="0"/>
                        <m:t>−</m:t>
                      </m:r>
                      <m:r>
                        <m:rPr>
                          <m:nor/>
                        </m:rPr>
                        <a:rPr lang="en-US" altLang="zh-CN" sz="2800" b="0"/>
                        <m:t>cos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∥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den>
                              </m:f>
                            </m:e>
                          </m:nary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b="0" dirty="0"/>
              </a:p>
              <a:p>
                <a:r>
                  <a:rPr lang="zh-CN" altLang="zh-CN" sz="2800" dirty="0"/>
                  <a:t>解释：接近 1 → 所有 token 趋同（严重坍缩），接近 0 → 各向异性良好。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A48FAB4-4D06-BBF5-EAFC-CD30D8004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5" y="955964"/>
                <a:ext cx="11571317" cy="3307957"/>
              </a:xfrm>
              <a:prstGeom prst="rect">
                <a:avLst/>
              </a:prstGeom>
              <a:blipFill>
                <a:blip r:embed="rId2"/>
                <a:stretch>
                  <a:fillRect l="-1106" t="-2214" r="-3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4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198B-3AC9-4A8C-942B-4E750639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E9203C08-1148-BD8D-846E-175102E0437C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——Hidden States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0AE0F7-C2FB-20DF-EAF0-FAA8BBFC0016}"/>
              </a:ext>
            </a:extLst>
          </p:cNvPr>
          <p:cNvSpPr txBox="1"/>
          <p:nvPr/>
        </p:nvSpPr>
        <p:spPr>
          <a:xfrm>
            <a:off x="290945" y="955964"/>
            <a:ext cx="11571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zh-CN" altLang="zh-CN" sz="2800" b="1" dirty="0"/>
              <a:t>平均余弦相似度（token 间）</a:t>
            </a:r>
            <a:r>
              <a:rPr lang="zh-CN" altLang="zh-CN" sz="2800" dirty="0"/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9EB753-559B-3DC8-B631-BAFC2FDEE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12" y="2490715"/>
            <a:ext cx="3946768" cy="22552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D97CB50-3778-7494-0932-FAEC98DBE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290" y="1682978"/>
            <a:ext cx="3684942" cy="21056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03DC84-D2A5-1AAC-343F-D5F36508A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080" y="4012604"/>
            <a:ext cx="3844125" cy="21966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1B91D6-8EB1-B627-0F5E-33156D39F2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662" y="1682978"/>
            <a:ext cx="3386925" cy="19353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818FEC-A52F-F3D7-92BF-6448527D43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87" y="3901555"/>
            <a:ext cx="4102011" cy="2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1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256E-64CC-3774-896C-817AED12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77CC5108-89FA-CFA7-87C7-451EB6396E0B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——Hidden States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CF2BA1-19C0-ECEA-C06B-1ECEC59A9A4A}"/>
                  </a:ext>
                </a:extLst>
              </p:cNvPr>
              <p:cNvSpPr txBox="1"/>
              <p:nvPr/>
            </p:nvSpPr>
            <p:spPr>
              <a:xfrm>
                <a:off x="310341" y="813367"/>
                <a:ext cx="11571317" cy="3819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  <a:sym typeface="+mn-ea"/>
                  </a:rPr>
                  <a:t>- </a:t>
                </a:r>
                <a:r>
                  <a:rPr lang="zh-CN" altLang="zh-CN" sz="3200" b="1" dirty="0"/>
                  <a:t>Two-NN 内在维度</a:t>
                </a:r>
                <a:endParaRPr lang="zh-CN" altLang="zh-CN" sz="3200" dirty="0"/>
              </a:p>
              <a:p>
                <a:r>
                  <a:rPr lang="zh-CN" altLang="zh-CN" sz="3200" dirty="0"/>
                  <a:t>对每个 token 向量（原始隐藏状态，无额外归一化）</a:t>
                </a:r>
              </a:p>
              <a:p>
                <a:r>
                  <a:rPr lang="zh-CN" altLang="zh-CN" sz="3200" dirty="0"/>
                  <a:t>计算两两之间的 MSE 距离：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a:rPr lang="zh-CN" altLang="en-US" sz="32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3200" dirty="0"/>
              </a:p>
              <a:p>
                <a:r>
                  <a:rPr lang="zh-CN" altLang="zh-CN" sz="3200" dirty="0"/>
                  <a:t>对每个点找最近邻距离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200" dirty="0"/>
                  <a:t> 和次近邻距离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200" dirty="0"/>
                  <a:t>，计算 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zh-CN" sz="3200" dirty="0"/>
              </a:p>
              <a:p>
                <a:r>
                  <a:rPr lang="zh-CN" altLang="zh-CN" sz="3200" dirty="0"/>
                  <a:t>累积分布 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zh-CN" sz="3200" dirty="0"/>
                  <a:t>，拟合 </a:t>
                </a:r>
                <a14:m>
                  <m:oMath xmlns:m="http://schemas.openxmlformats.org/officeDocument/2006/math">
                    <m:r>
                      <a:rPr lang="zh-CN" altLang="en-US" sz="32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d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func>
                    <m:r>
                      <a:rPr lang="en-US" altLang="zh-CN" sz="32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endParaRPr lang="zh-CN" altLang="zh-CN" sz="3200" dirty="0"/>
              </a:p>
              <a:p>
                <a:r>
                  <a:rPr lang="zh-CN" altLang="zh-CN" sz="3200" dirty="0"/>
                  <a:t>内在维度 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zh-CN" sz="3200" dirty="0"/>
                  <a:t> = 拟合斜率绝对值</a:t>
                </a:r>
              </a:p>
              <a:p>
                <a:r>
                  <a:rPr lang="zh-CN" altLang="zh-CN" sz="3200" dirty="0"/>
                  <a:t>解释：d 小 → 数据实际分布在低维流形（表达能力弱）。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CF2BA1-19C0-ECEA-C06B-1ECEC59A9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41" y="813367"/>
                <a:ext cx="11571317" cy="3819379"/>
              </a:xfrm>
              <a:prstGeom prst="rect">
                <a:avLst/>
              </a:prstGeom>
              <a:blipFill>
                <a:blip r:embed="rId2"/>
                <a:stretch>
                  <a:fillRect l="-1370" t="-2392" b="-4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9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4D42-67FB-70D2-8672-0468BA20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2FF8B5C2-8A22-991A-2F2E-F030DE14C70F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实验结果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——Hidden States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0EAC41-8542-3269-2551-0DEB10A0B43C}"/>
              </a:ext>
            </a:extLst>
          </p:cNvPr>
          <p:cNvSpPr txBox="1"/>
          <p:nvPr/>
        </p:nvSpPr>
        <p:spPr>
          <a:xfrm>
            <a:off x="310341" y="813367"/>
            <a:ext cx="11571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zh-CN" altLang="zh-CN" sz="3200" b="1" dirty="0"/>
              <a:t>Two-NN 内在维</a:t>
            </a:r>
            <a:r>
              <a:rPr lang="zh-CN" altLang="en-US" sz="3200" b="1" dirty="0"/>
              <a:t>度</a:t>
            </a:r>
            <a:endParaRPr lang="zh-CN" altLang="zh-CN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C102EA-7A5E-E41F-D3E6-4E80405D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899" y="1538229"/>
            <a:ext cx="4137839" cy="23644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23540A-9D77-0FA6-1216-9A8C634E6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80" y="3902708"/>
            <a:ext cx="4137839" cy="23644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C07738-33C8-AA57-9EDF-94007A4AD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07" y="1658948"/>
            <a:ext cx="3675804" cy="210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39652-A8BF-F19C-8E23-410DB212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D18C018E-85D3-F20C-2D7D-3A637048D85D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实验结论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</a:t>
            </a: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讨论与解释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7C1EC3-AAFC-31ED-C49B-BB3531CC76C0}"/>
              </a:ext>
            </a:extLst>
          </p:cNvPr>
          <p:cNvSpPr txBox="1"/>
          <p:nvPr/>
        </p:nvSpPr>
        <p:spPr>
          <a:xfrm>
            <a:off x="310341" y="813367"/>
            <a:ext cx="11571317" cy="4538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为什么小模型更容易坍缩？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参数容量不足 → 倾向于将特征压缩到低维子空间以最小化重构误差或损失。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残差连接与层归一化的相互作用在小模型中可能失效（梯度流不平衡）。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注意力头的多样性不足 →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Q/K/V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矩阵趋同。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与现有研究对比：与“各向异性”、“秩崩塌”、“维度坍缩”等文献一致。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242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382E-9966-7062-A027-837C9489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407AF712-12DE-63E3-9836-C10E8C48F674}"/>
              </a:ext>
            </a:extLst>
          </p:cNvPr>
          <p:cNvSpPr/>
          <p:nvPr/>
        </p:nvSpPr>
        <p:spPr>
          <a:xfrm>
            <a:off x="930924" y="212780"/>
            <a:ext cx="9909674" cy="681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实验结论</a:t>
            </a:r>
            <a:r>
              <a:rPr lang="en-US" altLang="zh-CN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——</a:t>
            </a:r>
            <a:r>
              <a:rPr lang="zh-CN" altLang="en-US" sz="3150" b="1" dirty="0">
                <a:gradFill rotWithShape="1">
                  <a:gsLst>
                    <a:gs pos="0">
                      <a:srgbClr val="0D9CE2">
                        <a:alpha val="100000"/>
                      </a:srgbClr>
                    </a:gs>
                    <a:gs pos="100000">
                      <a:srgbClr val="2E3C9D">
                        <a:alpha val="100000"/>
                      </a:srgbClr>
                    </a:gs>
                  </a:gsLst>
                  <a:lin ang="16200000"/>
                </a:gradFill>
                <a:latin typeface="微软雅黑" charset="0"/>
                <a:ea typeface="微软雅黑" charset="0"/>
                <a:cs typeface="Arial" panose="020B0604020202090204"/>
                <a:sym typeface="Arial" panose="020B0604020202090204"/>
              </a:rPr>
              <a:t>展望</a:t>
            </a:r>
            <a:endParaRPr lang="zh-CN" altLang="en-US" sz="3150" b="1" i="0" u="none" strike="noStrike" dirty="0">
              <a:gradFill rotWithShape="1">
                <a:gsLst>
                  <a:gs pos="0">
                    <a:srgbClr val="0D9CE2">
                      <a:alpha val="100000"/>
                    </a:srgbClr>
                  </a:gs>
                  <a:gs pos="100000">
                    <a:srgbClr val="2E3C9D">
                      <a:alpha val="100000"/>
                    </a:srgbClr>
                  </a:gs>
                </a:gsLst>
                <a:lin ang="16200000"/>
              </a:gradFill>
              <a:latin typeface="微软雅黑" charset="0"/>
              <a:ea typeface="微软雅黑" charset="0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D8C6B7-77DA-56EC-E47D-761A7EA09BC8}"/>
              </a:ext>
            </a:extLst>
          </p:cNvPr>
          <p:cNvSpPr txBox="1"/>
          <p:nvPr/>
        </p:nvSpPr>
        <p:spPr>
          <a:xfrm>
            <a:off x="310341" y="813367"/>
            <a:ext cx="11571317" cy="583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结论：实验量化验证了小模型（≤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1.7B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）存在严重的表示坍缩现象，而大模型（≥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8B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）能更好地维持表示多样性。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实际启示：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对小模型应引入正则化（如秩损失、谱归一化、正交正则）来对抗坍缩。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评估模型容量时，内在维度比参数量更有参考价值。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未来工作：研究坍缩与下游任务性能的直接相关性；尝试动态深度或自适应残差缓解小模型坍缩。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471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6CAC-5CAD-CE88-C7B8-E771121E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9B1BB12-4236-FD3B-E155-53C913C00FD9}"/>
              </a:ext>
            </a:extLst>
          </p:cNvPr>
          <p:cNvSpPr txBox="1"/>
          <p:nvPr/>
        </p:nvSpPr>
        <p:spPr>
          <a:xfrm>
            <a:off x="3352800" y="2750267"/>
            <a:ext cx="5486400" cy="1585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 for listening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2026.6.11</a:t>
            </a:r>
          </a:p>
        </p:txBody>
      </p:sp>
    </p:spTree>
    <p:extLst>
      <p:ext uri="{BB962C8B-B14F-4D97-AF65-F5344CB8AC3E}">
        <p14:creationId xmlns:p14="http://schemas.microsoft.com/office/powerpoint/2010/main" val="28953062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4835</TotalTime>
  <Words>1098</Words>
  <Application>Microsoft Office PowerPoint</Application>
  <PresentationFormat>宽屏</PresentationFormat>
  <Paragraphs>103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等线</vt:lpstr>
      <vt:lpstr>等线 Light</vt:lpstr>
      <vt:lpstr>思源黑体 CN Normal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天择 罗</dc:creator>
  <cp:lastModifiedBy>Yun Kai Deng</cp:lastModifiedBy>
  <cp:revision>194</cp:revision>
  <dcterms:created xsi:type="dcterms:W3CDTF">2026-03-26T16:43:02Z</dcterms:created>
  <dcterms:modified xsi:type="dcterms:W3CDTF">2026-06-11T06:59:07Z</dcterms:modified>
</cp:coreProperties>
</file>